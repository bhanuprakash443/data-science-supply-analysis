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RAPIDO SUPPLY SCIENCE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Summary: Captain Acquisition &amp; Supply Diagnosis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Key Analytical Findings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Mature Onboarding Baseline (17.5%): </a:t>
            </a:r>
            <a:r>
              <a:rPr sz="1150">
                <a:solidFill>
                  <a:srgbClr val="282828"/>
                </a:solidFill>
              </a:rPr>
              <a:t>Corrected for June right-censoring (1,297 in-progress signups). Baseline A2O conversion across mature cohorts (Jan–May 2026) is 17.48%.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Primary Funnel Leak: </a:t>
            </a:r>
            <a:r>
              <a:rPr sz="1150">
                <a:solidFill>
                  <a:srgbClr val="282828"/>
                </a:solidFill>
              </a:rPr>
              <a:t>Registration Certificate (RC) accounts for largest absolute loss (4,887 captains, 29.3% total loss). Low-device photo blur/OCR failure is the top fixable leak (5,568 failures, 62.86% of low-device failures).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Campaign Evaluation: </a:t>
            </a:r>
            <a:r>
              <a:rPr sz="1150">
                <a:solidFill>
                  <a:srgbClr val="282828"/>
                </a:solidFill>
              </a:rPr>
              <a:t>CAMP_WA_002's observed 17.8% diff is selection bias (targeted captains who already cleared DL/RC). Clickers converted lower than non-clickers (-1.09% pts).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Airport Mismatch: </a:t>
            </a:r>
            <a:r>
              <a:rPr sz="1150">
                <a:solidFill>
                  <a:srgbClr val="282828"/>
                </a:solidFill>
              </a:rPr>
              <a:t>Demand-supply gap is strictly time-bound (night 21:00–03:00, 31.9% fulfillment). 41.1% suburban drops leave captains stranded without return fares, driving 21% cancellations due to deadheading friction.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Strategic Recommendations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#1 Client-Side Auto-Blur SDK: </a:t>
            </a:r>
            <a:r>
              <a:rPr sz="1150">
                <a:solidFill>
                  <a:srgbClr val="282828"/>
                </a:solidFill>
              </a:rPr>
              <a:t>Deploy Android auto-blur SDK for low-tier devices. Impact: +52 Approved Captains / Month (Base-case planning estimate).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#2 WhatsApp OCR Name-Fix Bot: </a:t>
            </a:r>
            <a:r>
              <a:rPr sz="1150">
                <a:solidFill>
                  <a:srgbClr val="282828"/>
                </a:solidFill>
              </a:rPr>
              <a:t>Automated interactive WhatsApp bot for name mismatches (DL vs Aadhaar). Impact: +34 Approved Captains / Month (planning estimate).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#3 Airport Night Return Guarantee: </a:t>
            </a:r>
            <a:r>
              <a:rPr sz="1150">
                <a:solidFill>
                  <a:srgbClr val="282828"/>
                </a:solidFill>
              </a:rPr>
              <a:t>Illustrative ₹150 night return-fare guarantee for suburban drops. Target: raise night fulfillment from 31.9% toward 60% (~+9,500 rides/mo goal).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Clear Decision Framework: </a:t>
            </a:r>
            <a:r>
              <a:rPr sz="1150">
                <a:solidFill>
                  <a:srgbClr val="282828"/>
                </a:solidFill>
              </a:rPr>
              <a:t>REJECT immediate 5x budget scaling for CAMP_WA_002 (run RCT first). REJECT targeted airport acquisition push (fix night positioning instead).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RAPIDO SUPPLY SCIENCE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Captain Onboarding Funnel: Volume Loss vs Stage Conversion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Funnel Diagnosis &amp; Cohort Maturity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Mature Cohort Rule: </a:t>
            </a:r>
            <a:r>
              <a:rPr sz="1150">
                <a:solidFill>
                  <a:srgbClr val="282828"/>
                </a:solidFill>
              </a:rPr>
              <a:t>Extracted 2026-06-30. Approvals take 6.42 days average. All 1,297 in-progress signups belong to June. Jan–May mature cohort (N=20,207) yields true baseline A2O of 17.48%.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Stage 2 RC Volume Drop: </a:t>
            </a:r>
            <a:r>
              <a:rPr sz="1150">
                <a:solidFill>
                  <a:srgbClr val="282828"/>
                </a:solidFill>
              </a:rPr>
              <a:t>Registration Certificate (RC) suffers largest absolute loss: 4,887 captains lost (29.3% of total loss), converting at 72.69%.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Stage 6 Fitness/Insurance Drop: </a:t>
            </a:r>
            <a:r>
              <a:rPr sz="1150">
                <a:solidFill>
                  <a:srgbClr val="282828"/>
                </a:solidFill>
              </a:rPr>
              <a:t>Fitness &amp; Insurance stage has lowest stage conversion (62.80%), losing 2,303 captains out of 6,191 entering.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Volume vs Percentage: </a:t>
            </a:r>
            <a:r>
              <a:rPr sz="1150">
                <a:solidFill>
                  <a:srgbClr val="282828"/>
                </a:solidFill>
              </a:rPr>
              <a:t>RC is the highest absolute loss (friction/hesitation); Fitness/Insurance is the highest percentage drop (mandatory vehicle paperwork).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RAPIDO SUPPLY SCIENCE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Biggest Fixable Leak: Low-Tier Device Photo Blur &amp; OCR Failure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Leak Segmentation &amp; Audited Denominators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Target Segment: </a:t>
            </a:r>
            <a:r>
              <a:rPr sz="1150">
                <a:solidFill>
                  <a:srgbClr val="282828"/>
                </a:solidFill>
              </a:rPr>
              <a:t>Low-tier smartphones account for 9,290 signups (46.0% of mature cohort).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Conversion Deficit: </a:t>
            </a:r>
            <a:r>
              <a:rPr sz="1150">
                <a:solidFill>
                  <a:srgbClr val="282828"/>
                </a:solidFill>
              </a:rPr>
              <a:t>Low-device A2O conversion is 13.95%, vs 19.50% mid-tier and 22.88% high-tier (5.55% pts gap).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Audited Root Cause: </a:t>
            </a:r>
            <a:r>
              <a:rPr sz="1150">
                <a:solidFill>
                  <a:srgbClr val="282828"/>
                </a:solidFill>
              </a:rPr>
              <a:t>Camera blur (2,573), OCR low confidence (2,041), details unreadable (954) = 5,568 failures.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Denominator Definitions: </a:t>
            </a:r>
            <a:r>
              <a:rPr sz="1150">
                <a:solidFill>
                  <a:srgbClr val="282828"/>
                </a:solidFill>
              </a:rPr>
              <a:t>5,568 failures represent 62.86% of all 8,858 low-device verification failures (or 34.34% of all mature verification failures).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Uplift Planning Scenarios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Monthly Baseline: </a:t>
            </a:r>
            <a:r>
              <a:rPr sz="1150">
                <a:solidFill>
                  <a:srgbClr val="282828"/>
                </a:solidFill>
              </a:rPr>
              <a:t>1,858 low-device signups/month | 259.2 currently approved captains/month.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Conservative Scenario (+1.39% pts conv): </a:t>
            </a:r>
            <a:r>
              <a:rPr sz="1150">
                <a:solidFill>
                  <a:srgbClr val="282828"/>
                </a:solidFill>
              </a:rPr>
              <a:t>Recovering 25% of gap yields +26 Approved Captains / Month.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Base-Case Scenario (+2.78% pts conv): </a:t>
            </a:r>
            <a:r>
              <a:rPr sz="1150">
                <a:solidFill>
                  <a:srgbClr val="282828"/>
                </a:solidFill>
              </a:rPr>
              <a:t>Recovering 50% of gap to mid-tier (16.73% target A2O) yields +52 Approved Captains / Month (+258 over 5 months).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Upside Scenario (+5.55% pts conv): </a:t>
            </a:r>
            <a:r>
              <a:rPr sz="1150">
                <a:solidFill>
                  <a:srgbClr val="282828"/>
                </a:solidFill>
              </a:rPr>
              <a:t>Recovering 100% of gap to mid-tier (19.50% target A2O) yields +103 Approved Captains / Month (+516 over 5 months).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RAPIDO SUPPLY SCIENCE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Campaign Evaluation: CAMP_WA_002 Association vs Selection Bias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Observational Results &amp; Selection Confounding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Observed Association: </a:t>
            </a:r>
            <a:r>
              <a:rPr sz="1150">
                <a:solidFill>
                  <a:srgbClr val="282828"/>
                </a:solidFill>
              </a:rPr>
              <a:t>Recipients (N=7,128): 28.98% A2O | Non-Recipients (N=13,079): 11.21% A2O | Raw Difference: +17.78% pts (95% CI: [16.59%, 18.96%]).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Targeting Selection Bias: </a:t>
            </a:r>
            <a:r>
              <a:rPr sz="1150">
                <a:solidFill>
                  <a:srgbClr val="282828"/>
                </a:solidFill>
              </a:rPr>
              <a:t>CAMP_WA_002 was sent EXCLUSIVELY to captains who had ALREADY cleared DL and RC. Non-recipients included all 7,199 early drop-offs!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Within-Recipient Diagnostic: </a:t>
            </a:r>
            <a:r>
              <a:rPr sz="1150">
                <a:solidFill>
                  <a:srgbClr val="282828"/>
                </a:solidFill>
              </a:rPr>
              <a:t>Within CAMP_WA_002, clickers converted at 28.34% vs non-clickers at 29.44% (-1.09% pts). No positive incremental evidence from clicking!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Causal Evidence Assessment: </a:t>
            </a:r>
            <a:r>
              <a:rPr sz="1150">
                <a:solidFill>
                  <a:srgbClr val="282828"/>
                </a:solidFill>
              </a:rPr>
              <a:t>Causal evidence: insufficient from observational data. Selection-bias diagnosis: strongly supported by the campaign targeting rule.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5x Budget Scaling Decision &amp; Proposed Experiment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Executive Decision: </a:t>
            </a:r>
            <a:r>
              <a:rPr sz="1150">
                <a:solidFill>
                  <a:srgbClr val="282828"/>
                </a:solidFill>
              </a:rPr>
              <a:t>REJECT IMMEDIATE 5X BUDGET SCALING REQUEST FROM GROWTH TEAM.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Business Justification: </a:t>
            </a:r>
            <a:r>
              <a:rPr sz="1150">
                <a:solidFill>
                  <a:srgbClr val="282828"/>
                </a:solidFill>
              </a:rPr>
              <a:t>Scaling 5x before establishing incremental impact creates a material risk of inefficient marketing spend.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Proposed Experiment Design: </a:t>
            </a:r>
            <a:r>
              <a:rPr sz="1150">
                <a:solidFill>
                  <a:srgbClr val="282828"/>
                </a:solidFill>
              </a:rPr>
              <a:t>Run a 14-day Randomized Control Trial (RCT / A/B Test) withholding WhatsApp nudges from a proposed 15% holdout group of downstream captains.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Causal Evidence &amp; Diagnosis: </a:t>
            </a:r>
            <a:r>
              <a:rPr sz="1150">
                <a:solidFill>
                  <a:srgbClr val="282828"/>
                </a:solidFill>
              </a:rPr>
              <a:t>Causal evidence: insufficient from observational data. Selection-bias diagnosis: strongly supported by the campaign targeting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RAPIDO SUPPLY SCIENCE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Airport Marketplace: Night Mismatch &amp; Suburban Deadheading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Demand Mismatch &amp; Post-Trip Dispersal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Time-Specific Mismatch: </a:t>
            </a:r>
            <a:r>
              <a:rPr sz="1150">
                <a:solidFill>
                  <a:srgbClr val="282828"/>
                </a:solidFill>
              </a:rPr>
              <a:t>Daytime fulfillment is 86.94% (4.3 min ETA). Night peak (21:00–03:00) fulfillment collapses to 31.91% (46,020 unfulfilled rides, 83.6% total unfulfilled).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Suburban Stranding: </a:t>
            </a:r>
            <a:r>
              <a:rPr sz="1150">
                <a:solidFill>
                  <a:srgbClr val="282828"/>
                </a:solidFill>
              </a:rPr>
              <a:t>41.1% of airport trips drop in suburban zones. 83.5% of suburban drops get NO return fare within 20 min (23+ km empty drive back).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Deadheading Friction: </a:t>
            </a:r>
            <a:r>
              <a:rPr sz="1150">
                <a:solidFill>
                  <a:srgbClr val="282828"/>
                </a:solidFill>
              </a:rPr>
              <a:t>Captains cancel 21.0% of suburban airport trips (vs 8.6% city core). The observed pattern is consistent with deadheading friction reducing return attractiveness.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Headcount Push Verdict: </a:t>
            </a:r>
            <a:r>
              <a:rPr sz="1150">
                <a:solidFill>
                  <a:srgbClr val="282828"/>
                </a:solidFill>
              </a:rPr>
              <a:t>NO to targeted acquisition push. Hiring airport captains will not solve night supply if they log off or get stranded in suburbs.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RAPIDO SUPPLY SCIENCE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Actionable Recommendations &amp; Operational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#1 Low-Device Auto-Blur SDK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Action: </a:t>
            </a:r>
            <a:r>
              <a:rPr sz="1150">
                <a:solidFill>
                  <a:srgbClr val="282828"/>
                </a:solidFill>
              </a:rPr>
              <a:t>Integrate Android SDK checking camera blur &amp; edge detection before upload.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Expected Impact: </a:t>
            </a:r>
            <a:r>
              <a:rPr sz="1150">
                <a:solidFill>
                  <a:srgbClr val="282828"/>
                </a:solidFill>
              </a:rPr>
              <a:t>+52 Approved Captains / Month (Base-case planning estimate).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Illustrative Pilot Cost: </a:t>
            </a:r>
            <a:r>
              <a:rPr sz="1150">
                <a:solidFill>
                  <a:srgbClr val="282828"/>
                </a:solidFill>
              </a:rPr>
              <a:t>₹1.5L illustrative SDK budget; risk of Android latency.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Metric: </a:t>
            </a:r>
            <a:r>
              <a:rPr sz="1150">
                <a:solidFill>
                  <a:srgbClr val="282828"/>
                </a:solidFill>
              </a:rPr>
              <a:t>Low-device pass rate (&gt;85%).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2544" y="1280160"/>
            <a:ext cx="34747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#2 WhatsApp OCR Name Fix Bot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Action: </a:t>
            </a:r>
            <a:r>
              <a:rPr sz="1150">
                <a:solidFill>
                  <a:srgbClr val="282828"/>
                </a:solidFill>
              </a:rPr>
              <a:t>Automated interactive WhatsApp bot for DL vs Aadhaar name mismatches.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Expected Impact: </a:t>
            </a:r>
            <a:r>
              <a:rPr sz="1150">
                <a:solidFill>
                  <a:srgbClr val="282828"/>
                </a:solidFill>
              </a:rPr>
              <a:t>+34 Approved Captains / Month (planning estimate).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Illustrative Pilot Cost: </a:t>
            </a:r>
            <a:r>
              <a:rPr sz="1150">
                <a:solidFill>
                  <a:srgbClr val="282828"/>
                </a:solidFill>
              </a:rPr>
              <a:t>₹0.50 per WhatsApp OTP msg assumption; fraud risk.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Metric: </a:t>
            </a:r>
            <a:r>
              <a:rPr sz="1150">
                <a:solidFill>
                  <a:srgbClr val="282828"/>
                </a:solidFill>
              </a:rPr>
              <a:t>24-hr name resolution (&gt;40%).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5592" y="1280160"/>
            <a:ext cx="3474720" cy="5029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</a:defRPr>
            </a:pPr>
            <a:r>
              <a:t>#3 Night Airport Guarantee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Action: </a:t>
            </a:r>
            <a:r>
              <a:rPr sz="1150">
                <a:solidFill>
                  <a:srgbClr val="282828"/>
                </a:solidFill>
              </a:rPr>
              <a:t>Illustrative ₹150 night return guarantee for suburban drops (21:00–03:00) + free toll pass.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Target Opportunity Goal: </a:t>
            </a:r>
            <a:r>
              <a:rPr sz="1150">
                <a:solidFill>
                  <a:srgbClr val="282828"/>
                </a:solidFill>
              </a:rPr>
              <a:t>Raise night fulfillment from 31.9% toward 60% (~+9,500 rides/mo goal).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Illustrative Pilot Cost: </a:t>
            </a:r>
            <a:r>
              <a:rPr sz="1150">
                <a:solidFill>
                  <a:srgbClr val="282828"/>
                </a:solidFill>
              </a:rPr>
              <a:t>₹85 per unfulfilled trip subsidy assumption.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Metric: </a:t>
            </a:r>
            <a:r>
              <a:rPr sz="1150">
                <a:solidFill>
                  <a:srgbClr val="282828"/>
                </a:solidFill>
              </a:rPr>
              <a:t>Night terminal fulfillment (&gt;60%).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