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SLIDE 01  |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Captain Acquisition &amp; Supply: What the Data Says — and What We Should Do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Mature onboarding performance + airport marketplace diagnosis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146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17.48%</a:t>
            </a:r>
          </a:p>
          <a:p>
            <a:pPr>
              <a:spcAft>
                <a:spcPts val="400"/>
              </a:spcAft>
              <a:defRPr sz="1000" b="1">
                <a:solidFill>
                  <a:srgbClr val="F8FAFC"/>
                </a:solidFill>
              </a:defRPr>
            </a:pPr>
            <a:r>
              <a:t>MATURE A2O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Jan–May 2026 ($N=20,207$). Excludes right-censored June cohort.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554480"/>
            <a:ext cx="25146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48456" y="173736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F4444"/>
                </a:solidFill>
              </a:defRPr>
            </a:pPr>
            <a:r>
              <a:t>4,887</a:t>
            </a:r>
          </a:p>
          <a:p>
            <a:pPr>
              <a:spcAft>
                <a:spcPts val="400"/>
              </a:spcAft>
              <a:defRPr sz="1000" b="1">
                <a:solidFill>
                  <a:srgbClr val="F8FAFC"/>
                </a:solidFill>
              </a:defRPr>
            </a:pPr>
            <a:r>
              <a:t>RC VOLUME LOSS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Largest absolute bottleneck (72.69% stage conversion).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54480"/>
            <a:ext cx="25146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73736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NO 5×</a:t>
            </a:r>
          </a:p>
          <a:p>
            <a:pPr>
              <a:spcAft>
                <a:spcPts val="400"/>
              </a:spcAft>
              <a:defRPr sz="1000" b="1">
                <a:solidFill>
                  <a:srgbClr val="F8FAFC"/>
                </a:solidFill>
              </a:defRPr>
            </a:pPr>
            <a:r>
              <a:t>CAMP_WA_002 SCALE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Lift (+17.8 pp) is selection bias. Run RCT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1554480"/>
            <a:ext cx="25146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8" y="173736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31.91%</a:t>
            </a:r>
          </a:p>
          <a:p>
            <a:pPr>
              <a:spcAft>
                <a:spcPts val="400"/>
              </a:spcAft>
              <a:defRPr sz="1000" b="1">
                <a:solidFill>
                  <a:srgbClr val="F8FAFC"/>
                </a:solidFill>
              </a:defRPr>
            </a:pPr>
            <a:r>
              <a:t>NIGHT AIRPORT FULFILLMENT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46,020 unfulfilled rides (83.6% of total airport gap).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725912" cy="10972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103601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CORE STRATEGIC THESIS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"Fix onboarding friction and night return economics before increasing acquisition spend."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10725912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36015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400"/>
              </a:spcAft>
            </a:pPr>
            <a:r>
              <a:rPr b="1" sz="1050">
                <a:solidFill>
                  <a:srgbClr val="38BDF8"/>
                </a:solidFill>
              </a:rPr>
              <a:t>• Onboarding Volume Bottleneck:</a:t>
            </a:r>
            <a:r>
              <a:rPr sz="1050">
                <a:solidFill>
                  <a:srgbClr val="F8FAFC"/>
                </a:solidFill>
              </a:rPr>
              <a:t> Registration Certificate (RC) is the largest absolute drop (-4,887 captains). Low-device photo blur/OCR failure (5,568 failures, 62.86% low-device share) is the most actionable fixable leak (+52 approved caps/month base-case planning estimate).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38BDF8"/>
                </a:solidFill>
              </a:rPr>
              <a:t>• Campaign Evaluation (CAMP_WA_002):</a:t>
            </a:r>
            <a:r>
              <a:rPr sz="1050">
                <a:solidFill>
                  <a:srgbClr val="F8FAFC"/>
                </a:solidFill>
              </a:rPr>
              <a:t> Observed 17.8 pp lift is confounded by selection bias (sent exclusively to DL/RC cleared captains). Clickers converted lower (-1.09 pp). Establish incrementality via RCT before scaling.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38BDF8"/>
                </a:solidFill>
              </a:rPr>
              <a:t>• Airport Supply Mechanism:</a:t>
            </a:r>
            <a:r>
              <a:rPr sz="1050">
                <a:solidFill>
                  <a:srgbClr val="F8FAFC"/>
                </a:solidFill>
              </a:rPr>
              <a:t> Shortage is concentrated at night (31.91% fulfillment, 21:00–03:00). 41.1% suburban drops lead to 83.5% deadheading. Generic headcount acquisition does not address the mechanism.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F59E0B"/>
                </a:solidFill>
              </a:rPr>
              <a:t>RECOMMENDATION: </a:t>
            </a:r>
            <a:r>
              <a:rPr sz="1000">
                <a:solidFill>
                  <a:srgbClr val="94A3B8"/>
                </a:solidFill>
              </a:rPr>
              <a:t>Pilot targeted onboarding fixes + test night return economics; establish campaign incrementality before scaling.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SLIDE 02  |  ONBOARDING FUNNEL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Where Captains Are Lost: Volume Bottlenecks vs Stage Conversions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Sequential stage breakdown across mature signup cohort (Jan–May 2026, N=20,207)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62179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ck_funne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594360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554480"/>
            <a:ext cx="43251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91640"/>
            <a:ext cx="3959352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FUNNEL DIAGNOSIS &amp; METHODOLOGY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59E0B"/>
                </a:solidFill>
              </a:rPr>
              <a:t>• Stage 2 RC Volume Drop:</a:t>
            </a:r>
            <a:r>
              <a:rPr sz="1000">
                <a:solidFill>
                  <a:srgbClr val="94A3B8"/>
                </a:solidFill>
              </a:rPr>
              <a:t> Registration Certificate (RC) represents the largest absolute loss (-4,887 captains, 29.3% of total loss), converting at 72.69%.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8FAFC"/>
                </a:solidFill>
              </a:rPr>
              <a:t>• Stage 6 Fitness/Insurance Drop:</a:t>
            </a:r>
            <a:r>
              <a:rPr sz="1000">
                <a:solidFill>
                  <a:srgbClr val="94A3B8"/>
                </a:solidFill>
              </a:rPr>
              <a:t> Fitness &amp; Insurance stage has the lowest stage conversion (62.80%), losing 2,303 captains out of 6,191 entering.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8FAFC"/>
                </a:solidFill>
              </a:rPr>
              <a:t>• Volume vs Percentage:</a:t>
            </a:r>
            <a:r>
              <a:rPr sz="1000">
                <a:solidFill>
                  <a:srgbClr val="94A3B8"/>
                </a:solidFill>
              </a:rPr>
              <a:t> RC is the highest volume bottleneck (early hesitation/friction); Fitness/Insurance is the lowest stage conversion (mandatory vehicle paperwork).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8FAFC"/>
                </a:solidFill>
              </a:rPr>
              <a:t>• Mature Cohort Rule:</a:t>
            </a:r>
            <a:r>
              <a:rPr sz="1000">
                <a:solidFill>
                  <a:srgbClr val="94A3B8"/>
                </a:solidFill>
              </a:rPr>
              <a:t> Extraction date 2026-06-30. Approvals take 6.42 days on average. All 1,297 in-progress signups belong to June. Jan–May mature cohort (N=20,207) yields true baseline A2O of 17.48% (3,532 approved).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SLIDE 03  |  BIGGEST FIXABLE LEAK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Most Actionable Leak Is Low-Tier Device Document Capture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Low-device hardware quality issues represent 62.86% of low-device verification failures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65836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ck_devi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640080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554480"/>
            <a:ext cx="395935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691640"/>
            <a:ext cx="3593592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AUDITED LEAK &amp; UPLIFT WORKING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Segment Size:</a:t>
            </a:r>
            <a:r>
              <a:rPr sz="950">
                <a:solidFill>
                  <a:srgbClr val="94A3B8"/>
                </a:solidFill>
              </a:rPr>
              <a:t> 9,290 low-device signups (46.0% of mature cohort).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Conversion Gap:</a:t>
            </a:r>
            <a:r>
              <a:rPr sz="950">
                <a:solidFill>
                  <a:srgbClr val="94A3B8"/>
                </a:solidFill>
              </a:rPr>
              <a:t> Low-device A2O is 13.95% vs 19.50% mid-tier (5.55 pp deficit).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Audited Root Cause:</a:t>
            </a:r>
            <a:r>
              <a:rPr sz="950">
                <a:solidFill>
                  <a:srgbClr val="94A3B8"/>
                </a:solidFill>
              </a:rPr>
              <a:t> Camera blur (2,573), OCR low confidence (2,041), details unreadable (954) = 5,568 failures.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Denominator Share:</a:t>
            </a:r>
            <a:r>
              <a:rPr sz="950">
                <a:solidFill>
                  <a:srgbClr val="94A3B8"/>
                </a:solidFill>
              </a:rPr>
              <a:t> 5,568 failures represent 62.86% of all 8,858 low-device verification failures (or 34.34% of all mature verification failures).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B981"/>
                </a:solidFill>
              </a:rPr>
              <a:t>• Planning Scenarios:</a:t>
            </a:r>
            <a:r>
              <a:rPr sz="950">
                <a:solidFill>
                  <a:srgbClr val="94A3B8"/>
                </a:solidFill>
              </a:rPr>
              <a:t> Monthly low signups = 1,858. 25% gap recovery = +26/mo; 50% gap recovery (Base Case) = +52/mo; 100% gap recovery = +103/mo.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Scenario Footnote:</a:t>
            </a:r>
            <a:r>
              <a:rPr sz="950">
                <a:solidFill>
                  <a:srgbClr val="94A3B8"/>
                </a:solidFill>
              </a:rPr>
              <a:t> +52/month is a base-case planning estimate assuming 50% recovery of the low-vs-mid device gap, not a guaranteed causal uplift.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SLIDE 04  |  MARKETING CAMPAIGN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CAMP_WA_002 Looks Strong — Until We Examine Targeting Rules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Disentangling raw observed association from selection bias and causal lift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OBSERVED ASSOCIATION (RAW LIFT)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Recipients: 28.98% A2O  vs  Non-Recipients: 11.21% A2O</a:t>
            </a:r>
            <a:br/>
            <a:r>
              <a:t>Raw Observed Difference: +17.78 percentage points</a:t>
            </a:r>
          </a:p>
          <a:p>
            <a:pPr>
              <a:defRPr sz="1000">
                <a:solidFill>
                  <a:srgbClr val="EF4444"/>
                </a:solidFill>
              </a:defRPr>
            </a:pPr>
            <a:r>
              <a:t>SELECTION BIAS MECHANISM: CAMP_WA_002 was sent EXCLUSIVELY to captains who had ALREADY cleared DL and RC stages. Non-recipients included all 7,199 early drop-offs!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62472" y="1554480"/>
            <a:ext cx="539496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45352" y="16916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WITHIN-RECIPIENT DIAGNOSTIC</a:t>
            </a:r>
          </a:p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Clicked: 28.34% A2O  vs  Unclicked: 29.44% A2O</a:t>
            </a:r>
            <a:br/>
            <a:r>
              <a:t>Difference: -1.09 percentage points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NO POSITIVE INCREMENTAL EVIDENCE FROM CLICKING: Captains who engaged with the message converted identically or lower than non-clickers within the treatment group.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725912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0360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F4444"/>
                </a:solidFill>
              </a:defRPr>
            </a:pPr>
            <a:r>
              <a:t>DECISION: DO NOT SCALE BUDGET 5× IMMEDIATELY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8FAFC"/>
                </a:solidFill>
              </a:rPr>
              <a:t>• Business Justification:</a:t>
            </a:r>
            <a:r>
              <a:rPr sz="1050">
                <a:solidFill>
                  <a:srgbClr val="94A3B8"/>
                </a:solidFill>
              </a:rPr>
              <a:t> Scaling 5× before establishing incremental impact creates a material risk of inefficient marketing spend.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8FAFC"/>
                </a:solidFill>
              </a:rPr>
              <a:t>• Causal Evidence &amp; Diagnosis:</a:t>
            </a:r>
            <a:r>
              <a:rPr sz="1050">
                <a:solidFill>
                  <a:srgbClr val="94A3B8"/>
                </a:solidFill>
              </a:rPr>
              <a:t> Causal evidence: insufficient from observational data. Selection-bias diagnosis: strongly supported by the campaign targeting rule.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8FAFC"/>
                </a:solidFill>
              </a:rPr>
              <a:t>• Proposed Next Step:</a:t>
            </a:r>
            <a:r>
              <a:rPr sz="1050">
                <a:solidFill>
                  <a:srgbClr val="94A3B8"/>
                </a:solidFill>
              </a:rPr>
              <a:t> Run a 14-day Randomized Control Trial (RCT / A/B Test) withholding WhatsApp nudges from a proposed 15% holdout group of downstream captains before allocating capital.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SLIDE 05  |  AIRPORT SUPPLY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Airport Shortage Is a Night-Time Return-Economics Problem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Daytime fulfillment is healthy (86.94%); unfulfilled rides (46,020) occur strictly between 21:00 and 03:00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62179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ck_airpor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594360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554480"/>
            <a:ext cx="43251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91640"/>
            <a:ext cx="395935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POST-TRIP DISPERSAL &amp; DECISION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Night Crisis (21:00–03:00):</a:t>
            </a:r>
            <a:r>
              <a:rPr sz="950">
                <a:solidFill>
                  <a:srgbClr val="94A3B8"/>
                </a:solidFill>
              </a:rPr>
              <a:t> Fulfillment drops to 31.91% (46,020 unfulfilled rides, 83.6% of total airport gap). Daytime is 86.94% (4.3 min ETA).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Suburban Stranding:</a:t>
            </a:r>
            <a:r>
              <a:rPr sz="950">
                <a:solidFill>
                  <a:srgbClr val="94A3B8"/>
                </a:solidFill>
              </a:rPr>
              <a:t> 41.1% of airport trips drop in suburban zones. 83.5% get NO return fare within 20 min (23+ km empty drive back).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Cancellation Friction:</a:t>
            </a:r>
            <a:r>
              <a:rPr sz="950">
                <a:solidFill>
                  <a:srgbClr val="94A3B8"/>
                </a:solidFill>
              </a:rPr>
              <a:t> Captains cancel 21.0% of suburban airport trips (vs 8.6% city core). The observed pattern is consistent with deadheading friction reducing return attractiveness.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EF4444"/>
                </a:solidFill>
              </a:rPr>
              <a:t>• Headcount Push Verdict:</a:t>
            </a:r>
            <a:r>
              <a:rPr sz="950">
                <a:solidFill>
                  <a:srgbClr val="94A3B8"/>
                </a:solidFill>
              </a:rPr>
              <a:t> NO to generic targeted airport captain acquisition. Hiring airport-area captains will not solve night supply if they log off or get stranded.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Opportunity Goal:</a:t>
            </a:r>
            <a:r>
              <a:rPr sz="950">
                <a:solidFill>
                  <a:srgbClr val="94A3B8"/>
                </a:solidFill>
              </a:rPr>
              <a:t> Target raising night fulfillment from 31.9% toward 60% (~+9,500 rides/month goal; opportunity estimate, NOT guaranteed causal impact).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SLIDE 06  | 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Three Moves to Start Monday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Prioritized, operational interventions with explicit planning estimates &amp; pilot assumptions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1752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01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LOW-DEVICE AUTO-BLUR SDK</a:t>
            </a:r>
          </a:p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</a:defRPr>
            </a:pPr>
            <a:r>
              <a:t>ESTIMATED IMPACT: +52 / month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8FAFC"/>
                </a:solidFill>
              </a:rPr>
              <a:t>Action: </a:t>
            </a:r>
            <a:r>
              <a:rPr sz="950">
                <a:solidFill>
                  <a:srgbClr val="94A3B8"/>
                </a:solidFill>
              </a:rPr>
              <a:t>Integrate Android image quality SDK checking camera blur &amp; edge detection before upload.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8FAFC"/>
                </a:solidFill>
              </a:rPr>
              <a:t>Primary Metric: </a:t>
            </a:r>
            <a:r>
              <a:rPr sz="950">
                <a:solidFill>
                  <a:srgbClr val="94A3B8"/>
                </a:solidFill>
              </a:rPr>
              <a:t>Low-device pass rate &gt;85%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8FAFC"/>
                </a:solidFill>
              </a:rPr>
              <a:t>Illustrative Budget: </a:t>
            </a:r>
            <a:r>
              <a:rPr sz="950">
                <a:solidFill>
                  <a:srgbClr val="94A3B8"/>
                </a:solidFill>
              </a:rPr>
              <a:t>₹1.5L illustrative pilot budget assumption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1554480"/>
            <a:ext cx="338328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1144" y="1737360"/>
            <a:ext cx="301752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WHATSAPP OCR NAME-FIX</a:t>
            </a:r>
          </a:p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ESTIMATED IMPACT: +34 / month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8FAFC"/>
                </a:solidFill>
              </a:rPr>
              <a:t>Action: </a:t>
            </a:r>
            <a:r>
              <a:rPr sz="950">
                <a:solidFill>
                  <a:srgbClr val="94A3B8"/>
                </a:solidFill>
              </a:rPr>
              <a:t>Automated interactive WhatsApp bot resolving DL ↔ Aadhaar name mismatches via 1-click OTP.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8FAFC"/>
                </a:solidFill>
              </a:rPr>
              <a:t>Primary Metric: </a:t>
            </a:r>
            <a:r>
              <a:rPr sz="950">
                <a:solidFill>
                  <a:srgbClr val="94A3B8"/>
                </a:solidFill>
              </a:rPr>
              <a:t>24-hour resolution &gt;40%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8FAFC"/>
                </a:solidFill>
              </a:rPr>
              <a:t>Illustrative Budget: </a:t>
            </a:r>
            <a:r>
              <a:rPr sz="950">
                <a:solidFill>
                  <a:srgbClr val="94A3B8"/>
                </a:solidFill>
              </a:rPr>
              <a:t>₹0.50/msg illustrative assumption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008" y="1554480"/>
            <a:ext cx="338328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37360"/>
            <a:ext cx="301752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03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NIGHT RETURN GUARANTEE</a:t>
            </a:r>
          </a:p>
          <a:p>
            <a:pPr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ESTIMATED IMPACT: 31.9% → 60%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8FAFC"/>
                </a:solidFill>
              </a:rPr>
              <a:t>Action: </a:t>
            </a:r>
            <a:r>
              <a:rPr sz="950">
                <a:solidFill>
                  <a:srgbClr val="94A3B8"/>
                </a:solidFill>
              </a:rPr>
              <a:t>Illustrative ₹150 night return-fare guarantee for suburban airport drops (21:00–03:00) + free toll pass.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8FAFC"/>
                </a:solidFill>
              </a:rPr>
              <a:t>Primary Metric: </a:t>
            </a:r>
            <a:r>
              <a:rPr sz="950">
                <a:solidFill>
                  <a:srgbClr val="94A3B8"/>
                </a:solidFill>
              </a:rPr>
              <a:t>Night fulfillment &gt;60%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8FAFC"/>
                </a:solidFill>
              </a:rPr>
              <a:t>Illustrative Budget: </a:t>
            </a:r>
            <a:r>
              <a:rPr sz="950">
                <a:solidFill>
                  <a:srgbClr val="94A3B8"/>
                </a:solidFill>
              </a:rPr>
              <a:t>₹85 subsidy illustrative assumption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725912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EXECUTIVE TAKEAWAY (MONDAY ACTION PLAN)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1. Fix low-device onboarding friction.  2. Resolve document-name mismatches.  3. Test night return economics.  4. Do not scale CAMP_WA_002 5× until incrementality is proven.  5. Do not solve a night marketplace problem with generic airport headcount.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